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13716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0="http://schemas.openxmlformats.org/wordprocessingml/2006/main" sz="6000" b="1" ns0:eastAsia="Microsoft YaHei">
                <a:solidFill>
                  <a:srgbClr val="007AD9"/>
                </a:solidFill>
                <a:latin typeface="Microsoft YaHei"/>
              </a:rPr>
              <a:t>OntoDB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800" b="0" ns1:eastAsia="Microsoft YaHei">
                <a:solidFill>
                  <a:srgbClr val="FFFFFF"/>
                </a:solidFill>
                <a:latin typeface="Microsoft YaHei"/>
              </a:rPr>
              <a:t>本体内核驱动的多模态语义数据融合引擎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2000" b="0" ns2:eastAsia="Microsoft YaHei">
                <a:solidFill>
                  <a:srgbClr val="00A8E8"/>
                </a:solidFill>
                <a:latin typeface="Microsoft YaHei"/>
              </a:rPr>
              <a:t>全球首个将本体推理内嵌数据库内核的产品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2000" b="0" ns3:eastAsia="Microsoft YaHei">
                <a:solidFill>
                  <a:srgbClr val="00B894"/>
                </a:solidFill>
                <a:latin typeface="Microsoft YaHei"/>
              </a:rPr>
              <a:t>一个数据库替代七个系统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486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600" b="0" ns4:eastAsia="Microsoft YaHei">
                <a:solidFill>
                  <a:srgbClr val="7A7A7A"/>
                </a:solidFill>
                <a:latin typeface="Microsoft YaHei"/>
              </a:rPr>
              <a:t>ontovalue.com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传统方案的困境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2400" b="1" ns1:eastAsia="Microsoft YaHei">
                <a:solidFill>
                  <a:srgbClr val="007AD9"/>
                </a:solidFill>
                <a:latin typeface="Microsoft YaHei"/>
              </a:rPr>
              <a:t>数据孤岛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MySQL + Neo4j + Milvus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InfluxDB + PostGIS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Apache Jena + Redis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7个独立系统，数据分散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2400" b="1" ns2:eastAsia="Microsoft YaHei">
                <a:solidFill>
                  <a:srgbClr val="007AD9"/>
                </a:solidFill>
                <a:latin typeface="Microsoft YaHei"/>
              </a:rPr>
              <a:t>性能瓶颈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推理延迟：&gt;100ms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跨模态查询：秒级-分钟级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数据同步：小时级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无法满足实时需求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2400" b="1" ns3:eastAsia="Microsoft YaHei">
                <a:solidFill>
                  <a:srgbClr val="007AD9"/>
                </a:solidFill>
                <a:latin typeface="Microsoft YaHei"/>
              </a:rPr>
              <a:t>成本高昂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部署复杂度：7倍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运维成本：7倍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学习成本：7种技术栈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资源浪费严重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2800" b="1" ns4:eastAsia="Microsoft YaHei">
                <a:solidFill>
                  <a:srgbClr val="00B894"/>
                </a:solidFill>
                <a:latin typeface="Microsoft YaHei"/>
              </a:rPr>
              <a:t>有没有一个数据库，能替代这七个系统？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OntoDB 的解决方案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800" b="1" ns1:eastAsia="Microsoft YaHei">
                <a:solidFill>
                  <a:srgbClr val="00B894"/>
                </a:solidFill>
                <a:latin typeface="Microsoft YaHei"/>
              </a:rPr>
              <a:t>一个数据库替代七个系统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2000" b="1" ns2:eastAsia="Microsoft YaHei">
                <a:solidFill>
                  <a:srgbClr val="FFFFFF"/>
                </a:solidFill>
                <a:latin typeface="Microsoft YaHei"/>
              </a:rPr>
              <a:t>  结构化记录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0" ns3:eastAsia="Microsoft YaHei">
                <a:solidFill>
                  <a:srgbClr val="7A7A7A"/>
                </a:solidFill>
                <a:latin typeface="Microsoft YaHei"/>
              </a:rPr>
              <a:t>替代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2000" b="1" ns4:eastAsia="Microsoft YaHei">
                <a:solidFill>
                  <a:srgbClr val="FFFFFF"/>
                </a:solidFill>
                <a:latin typeface="Microsoft YaHei"/>
              </a:rPr>
              <a:t>  图结构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0" ns5:eastAsia="Microsoft YaHei">
                <a:solidFill>
                  <a:srgbClr val="7A7A7A"/>
                </a:solidFill>
                <a:latin typeface="Microsoft YaHei"/>
              </a:rPr>
              <a:t>替代 Neo4j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2000" b="1" ns6:eastAsia="Microsoft YaHei">
                <a:solidFill>
                  <a:srgbClr val="FFFFFF"/>
                </a:solidFill>
                <a:latin typeface="Microsoft YaHei"/>
              </a:rPr>
              <a:t>  向量索引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b="0" ns7:eastAsia="Microsoft YaHei">
                <a:solidFill>
                  <a:srgbClr val="7A7A7A"/>
                </a:solidFill>
                <a:latin typeface="Microsoft YaHei"/>
              </a:rPr>
              <a:t>替代 Milvus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2000" b="1" ns8:eastAsia="Microsoft YaHei">
                <a:solidFill>
                  <a:srgbClr val="FFFFFF"/>
                </a:solidFill>
                <a:latin typeface="Microsoft YaHei"/>
              </a:rPr>
              <a:t>  时序数据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400" b="0" ns9:eastAsia="Microsoft YaHei">
                <a:solidFill>
                  <a:srgbClr val="7A7A7A"/>
                </a:solidFill>
                <a:latin typeface="Microsoft YaHei"/>
              </a:rPr>
              <a:t>替代 InfluxDB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2000" b="1" ns10:eastAsia="Microsoft YaHei">
                <a:solidFill>
                  <a:srgbClr val="FFFFFF"/>
                </a:solidFill>
                <a:latin typeface="Microsoft YaHei"/>
              </a:rPr>
              <a:t>  空间数据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400" b="0" ns11:eastAsia="Microsoft YaHei">
                <a:solidFill>
                  <a:srgbClr val="7A7A7A"/>
                </a:solidFill>
                <a:latin typeface="Microsoft YaHei"/>
              </a:rPr>
              <a:t>替代 PostGIS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2000" b="1" ns12:eastAsia="Microsoft YaHei">
                <a:solidFill>
                  <a:srgbClr val="FFFFFF"/>
                </a:solidFill>
                <a:latin typeface="Microsoft YaHei"/>
              </a:rPr>
              <a:t>  语义三元组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400" b="0" ns13:eastAsia="Microsoft YaHei">
                <a:solidFill>
                  <a:srgbClr val="7A7A7A"/>
                </a:solidFill>
                <a:latin typeface="Microsoft YaHei"/>
              </a:rPr>
              <a:t>替代 Apache Jena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2000" b="0" ns14:eastAsia="Microsoft YaHei">
                <a:solidFill>
                  <a:srgbClr val="00A8E8"/>
                </a:solidFill>
                <a:latin typeface="Microsoft YaHei"/>
              </a:rPr>
              <a:t>核心创新：本体内核化架构 + 零映射表关联 + 写入即语义就绪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八层架构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800" b="1" ns1:eastAsia="Microsoft YaHei">
                <a:solidFill>
                  <a:srgbClr val="007AD9"/>
                </a:solidFill>
                <a:latin typeface="Microsoft YaHei"/>
              </a:rPr>
              <a:t>扩展能力层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097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ns2:eastAsia="Microsoft YaHei">
                <a:solidFill>
                  <a:srgbClr val="FFFFFF"/>
                </a:solidFill>
                <a:latin typeface="Microsoft YaHei"/>
              </a:rPr>
              <a:t>数据分片 | 水平扩展 | 多协议接入 | API网关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800" b="1" ns3:eastAsia="Microsoft YaHei">
                <a:solidFill>
                  <a:srgbClr val="007AD9"/>
                </a:solidFill>
                <a:latin typeface="Microsoft YaHei"/>
              </a:rPr>
              <a:t>命名空间层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556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0" ns4:eastAsia="Microsoft YaHei">
                <a:solidFill>
                  <a:srgbClr val="FFFFFF"/>
                </a:solidFill>
                <a:latin typeface="Microsoft YaHei"/>
              </a:rPr>
              <a:t>多租户隔离 | 本体层隔离 | 数据层隔离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140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800" b="1" ns5:eastAsia="Microsoft YaHei">
                <a:solidFill>
                  <a:srgbClr val="007AD9"/>
                </a:solidFill>
                <a:latin typeface="Microsoft YaHei"/>
              </a:rPr>
              <a:t>活数据管理层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14015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0" ns6:eastAsia="Microsoft YaHei">
                <a:solidFill>
                  <a:srgbClr val="FFFFFF"/>
                </a:solidFill>
                <a:latin typeface="Microsoft YaHei"/>
              </a:rPr>
              <a:t>价值衰减 | 自动激活 | 实时计算 | 优先级排序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723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800" b="1" ns7:eastAsia="Microsoft YaHei">
                <a:solidFill>
                  <a:srgbClr val="007AD9"/>
                </a:solidFill>
                <a:latin typeface="Microsoft YaHei"/>
              </a:rPr>
              <a:t>查询融合层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7238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b="0" ns8:eastAsia="Microsoft YaHei">
                <a:solidFill>
                  <a:srgbClr val="FFFFFF"/>
                </a:solidFill>
                <a:latin typeface="Microsoft YaHei"/>
              </a:rPr>
              <a:t>统一查询语言 | 多模态融合 | 查询优化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800" b="1" ns9:eastAsia="Microsoft YaHei">
                <a:solidFill>
                  <a:srgbClr val="007AD9"/>
                </a:solidFill>
                <a:latin typeface="Microsoft YaHei"/>
              </a:rPr>
              <a:t>写入联动层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307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400" b="0" ns10:eastAsia="Microsoft YaHei">
                <a:solidFill>
                  <a:srgbClr val="FFFFFF"/>
                </a:solidFill>
                <a:latin typeface="Microsoft YaHei"/>
              </a:rPr>
              <a:t>七步联动管线 | 三阶段锁 | 原子执行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800" b="1" ns11:eastAsia="Microsoft YaHei">
                <a:solidFill>
                  <a:srgbClr val="007AD9"/>
                </a:solidFill>
                <a:latin typeface="Microsoft YaHei"/>
              </a:rPr>
              <a:t>统一标识层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400" b="0" ns12:eastAsia="Microsoft YaHei">
                <a:solidFill>
                  <a:srgbClr val="FFFFFF"/>
                </a:solidFill>
                <a:latin typeface="Microsoft YaHei"/>
              </a:rPr>
              <a:t>语义化标识 | 零映射表关联 | 跨模态锚点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474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800" b="1" ns13:eastAsia="Microsoft YaHei">
                <a:solidFill>
                  <a:srgbClr val="007AD9"/>
                </a:solidFill>
                <a:latin typeface="Microsoft YaHei"/>
              </a:rPr>
              <a:t>语义引擎层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0474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400" b="0" ns14:eastAsia="Microsoft YaHei">
                <a:solidFill>
                  <a:srgbClr val="FFFFFF"/>
                </a:solidFill>
                <a:latin typeface="Microsoft YaHei"/>
              </a:rPr>
              <a:t>本体定义 | 推理引擎 | 增量推理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058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800" b="1" ns15:eastAsia="Microsoft YaHei">
                <a:solidFill>
                  <a:srgbClr val="007AD9"/>
                </a:solidFill>
                <a:latin typeface="Microsoft YaHei"/>
              </a:rPr>
              <a:t>存储引擎层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70585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400" b="0" ns16:eastAsia="Microsoft YaHei">
                <a:solidFill>
                  <a:srgbClr val="FFFFFF"/>
                </a:solidFill>
                <a:latin typeface="Microsoft YaHei"/>
              </a:rPr>
              <a:t>LSM-Tree | 六模态统一 | 键前缀路由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核心创新1：本体内核化架构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2400" b="1" ns1:eastAsia="Microsoft YaHei">
                <a:solidFill>
                  <a:srgbClr val="7A7A7A"/>
                </a:solidFill>
                <a:latin typeface="Microsoft YaHei"/>
              </a:rPr>
              <a:t>传统方案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存储引擎 + 外挂推理引擎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网络延迟 + 序列化开销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推理延迟：&gt;100ms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2400" b="1" ns2:eastAsia="Microsoft YaHei">
                <a:solidFill>
                  <a:srgbClr val="00B894"/>
                </a:solidFill>
                <a:latin typeface="Microsoft YaHei"/>
              </a:rPr>
              <a:t>OntoDB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推理引擎直接嵌入存储引擎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共享内存空间，零网络开销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推理延迟：&lt;1ms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4800" b="1" ns3:eastAsia="Microsoft YaHei">
                <a:solidFill>
                  <a:srgbClr val="00B894"/>
                </a:solidFill>
                <a:latin typeface="Microsoft YaHei"/>
              </a:rPr>
              <a:t>150倍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600" b="0" ns4:eastAsia="Microsoft YaHei">
                <a:solidFill>
                  <a:srgbClr val="7A7A7A"/>
                </a:solidFill>
                <a:latin typeface="Microsoft YaHei"/>
              </a:rPr>
              <a:t>推理延迟提升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4800" b="1" ns5:eastAsia="Microsoft YaHei">
                <a:solidFill>
                  <a:srgbClr val="00B894"/>
                </a:solidFill>
                <a:latin typeface="Microsoft YaHei"/>
              </a:rPr>
              <a:t>&lt;1ms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600" b="0" ns6:eastAsia="Microsoft YaHei">
                <a:solidFill>
                  <a:srgbClr val="7A7A7A"/>
                </a:solidFill>
                <a:latin typeface="Microsoft YaHei"/>
              </a:rPr>
              <a:t>推理延迟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4800" b="1" ns7:eastAsia="Microsoft YaHei">
                <a:solidFill>
                  <a:srgbClr val="00B894"/>
                </a:solidFill>
                <a:latin typeface="Microsoft Ya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600" b="0" ns8:eastAsia="Microsoft YaHei">
                <a:solidFill>
                  <a:srgbClr val="7A7A7A"/>
                </a:solidFill>
                <a:latin typeface="Microsoft YaHei"/>
              </a:rPr>
              <a:t>网络开销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核心创新2：零映射表关联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2400" b="1" ns1:eastAsia="Microsoft YaHei">
                <a:solidFill>
                  <a:srgbClr val="7A7A7A"/>
                </a:solidFill>
                <a:latin typeface="Microsoft YaHei"/>
              </a:rPr>
              <a:t>传统方案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每个实体维护映射表：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MySQL id=1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映射表: id=1 → neo4j_id=abc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Neo4j: id=abc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跨模态查询需要多次映射表查询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2400" b="1" ns2:eastAsia="Microsoft YaHei">
                <a:solidFill>
                  <a:srgbClr val="00B894"/>
                </a:solidFill>
                <a:latin typeface="Microsoft YaHei"/>
              </a:rPr>
              <a:t>OntoDB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统一标识：Device::001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同时作为：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- MySQL的主键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- Neo4j的顶点ID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- Milvus的文档键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4800" b="1" ns3:eastAsia="Microsoft YaHei">
                <a:solidFill>
                  <a:srgbClr val="00B894"/>
                </a:solidFill>
                <a:latin typeface="Microsoft YaHei"/>
              </a:rPr>
              <a:t>100倍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600" b="0" ns4:eastAsia="Microsoft YaHei">
                <a:solidFill>
                  <a:srgbClr val="7A7A7A"/>
                </a:solidFill>
                <a:latin typeface="Microsoft YaHei"/>
              </a:rPr>
              <a:t>查询延迟降低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4800" b="1" ns5:eastAsia="Microsoft YaHei">
                <a:solidFill>
                  <a:srgbClr val="00B894"/>
                </a:solidFill>
                <a:latin typeface="Microsoft YaHe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600" b="0" ns6:eastAsia="Microsoft YaHei">
                <a:solidFill>
                  <a:srgbClr val="7A7A7A"/>
                </a:solidFill>
                <a:latin typeface="Microsoft YaHei"/>
              </a:rPr>
              <a:t>映射表开销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4800" b="1" ns7:eastAsia="Microsoft YaHei">
                <a:solidFill>
                  <a:srgbClr val="00B894"/>
                </a:solidFill>
                <a:latin typeface="Microsoft YaHei"/>
              </a:rPr>
              <a:t>强一致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600" b="0" ns8:eastAsia="Microsoft YaHei">
                <a:solidFill>
                  <a:srgbClr val="7A7A7A"/>
                </a:solidFill>
                <a:latin typeface="Microsoft YaHei"/>
              </a:rPr>
              <a:t>数据一致性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核心创新3：写入即语义就绪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2400" b="1" ns1:eastAsia="Microsoft YaHei">
                <a:solidFill>
                  <a:srgbClr val="7A7A7A"/>
                </a:solidFill>
                <a:latin typeface="Microsoft YaHei"/>
              </a:rPr>
              <a:t>传统方案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1. 写入MySQL（1ms）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2. ETL同步（1-60秒）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3. 生成语义（1-60秒）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总延迟：2-120秒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2400" b="1" ns2:eastAsia="Microsoft YaHei">
                <a:solidFill>
                  <a:srgbClr val="00B894"/>
                </a:solidFill>
                <a:latin typeface="Microsoft YaHei"/>
              </a:rPr>
              <a:t>OntoDB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1. 写入存储引擎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2. 自动创建图顶点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3. 自动生成三元组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4. 执行增量推理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总延迟：&lt;1ms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4800" b="1" ns3:eastAsia="Microsoft YaHei">
                <a:solidFill>
                  <a:srgbClr val="00B894"/>
                </a:solidFill>
                <a:latin typeface="Microsoft YaHei"/>
              </a:rPr>
              <a:t>1000倍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600" b="0" ns4:eastAsia="Microsoft YaHei">
                <a:solidFill>
                  <a:srgbClr val="7A7A7A"/>
                </a:solidFill>
                <a:latin typeface="Microsoft YaHei"/>
              </a:rPr>
              <a:t>写入延迟降低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4800" b="1" ns5:eastAsia="Microsoft YaHei">
                <a:solidFill>
                  <a:srgbClr val="00B894"/>
                </a:solidFill>
                <a:latin typeface="Microsoft YaHei"/>
              </a:rPr>
              <a:t>&lt;1ms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600" b="0" ns6:eastAsia="Microsoft YaHei">
                <a:solidFill>
                  <a:srgbClr val="7A7A7A"/>
                </a:solidFill>
                <a:latin typeface="Microsoft YaHei"/>
              </a:rPr>
              <a:t>写入延迟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4800" b="1" ns7:eastAsia="Microsoft YaHei">
                <a:solidFill>
                  <a:srgbClr val="00B894"/>
                </a:solidFill>
                <a:latin typeface="Microsoft YaHei"/>
              </a:rPr>
              <a:t>原子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600" b="0" ns8:eastAsia="Microsoft YaHei">
                <a:solidFill>
                  <a:srgbClr val="7A7A7A"/>
                </a:solidFill>
                <a:latin typeface="Microsoft YaHei"/>
              </a:rPr>
              <a:t>事务保证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性能对比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2000" b="1" ns1:eastAsia="Microsoft YaHei">
                <a:solidFill>
                  <a:srgbClr val="007AD9"/>
                </a:solidFill>
                <a:latin typeface="Microsoft YaHei"/>
              </a:rPr>
              <a:t>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2000" b="1" ns2:eastAsia="Microsoft YaHei">
                <a:solidFill>
                  <a:srgbClr val="7A7A7A"/>
                </a:solidFill>
                <a:latin typeface="Microsoft YaHei"/>
              </a:rPr>
              <a:t>传统方案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2000" b="1" ns3:eastAsia="Microsoft YaHei">
                <a:solidFill>
                  <a:srgbClr val="00B894"/>
                </a:solidFill>
                <a:latin typeface="Microsoft YaHei"/>
              </a:rPr>
              <a:t>OntoDB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2000" b="1" ns4:eastAsia="Microsoft YaHei">
                <a:solidFill>
                  <a:srgbClr val="00B894"/>
                </a:solidFill>
                <a:latin typeface="Microsoft YaHei"/>
              </a:rPr>
              <a:t>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2000" b="0" ns5:eastAsia="Microsoft YaHei">
                <a:solidFill>
                  <a:srgbClr val="FFFFFF"/>
                </a:solidFill>
                <a:latin typeface="Microsoft YaHei"/>
              </a:rPr>
              <a:t>推理延迟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2000" b="0" ns6:eastAsia="Microsoft YaHei">
                <a:solidFill>
                  <a:srgbClr val="7A7A7A"/>
                </a:solidFill>
                <a:latin typeface="Microsoft YaHei"/>
              </a:rPr>
              <a:t>120ms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2000" b="1" ns7:eastAsia="Microsoft YaHei">
                <a:solidFill>
                  <a:srgbClr val="00B894"/>
                </a:solidFill>
                <a:latin typeface="Microsoft YaHei"/>
              </a:rPr>
              <a:t>0.8ms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2000" b="1" ns8:eastAsia="Microsoft YaHei">
                <a:solidFill>
                  <a:srgbClr val="00B894"/>
                </a:solidFill>
                <a:latin typeface="Microsoft YaHei"/>
              </a:rPr>
              <a:t>150倍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2000" b="0" ns9:eastAsia="Microsoft YaHei">
                <a:solidFill>
                  <a:srgbClr val="FFFFFF"/>
                </a:solidFill>
                <a:latin typeface="Microsoft YaHei"/>
              </a:rPr>
              <a:t>跨模态查询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2000" b="0" ns10:eastAsia="Microsoft YaHei">
                <a:solidFill>
                  <a:srgbClr val="7A7A7A"/>
                </a:solidFill>
                <a:latin typeface="Microsoft YaHei"/>
              </a:rPr>
              <a:t>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2000" b="1" ns11:eastAsia="Microsoft YaHei">
                <a:solidFill>
                  <a:srgbClr val="00B894"/>
                </a:solidFill>
                <a:latin typeface="Microsoft YaHei"/>
              </a:rPr>
              <a:t>3ms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2000" b="1" ns12:eastAsia="Microsoft YaHei">
                <a:solidFill>
                  <a:srgbClr val="00B894"/>
                </a:solidFill>
                <a:latin typeface="Microsoft YaHei"/>
              </a:rPr>
              <a:t>16.7倍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2000" b="0" ns13:eastAsia="Microsoft YaHei">
                <a:solidFill>
                  <a:srgbClr val="FFFFFF"/>
                </a:solidFill>
                <a:latin typeface="Microsoft YaHei"/>
              </a:rPr>
              <a:t>写入吞吐量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2000" b="0" ns14:eastAsia="Microsoft YaHei">
                <a:solidFill>
                  <a:srgbClr val="7A7A7A"/>
                </a:solidFill>
                <a:latin typeface="Microsoft YaHei"/>
              </a:rPr>
              <a:t>800/s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2000" b="1" ns15:eastAsia="Microsoft YaHei">
                <a:solidFill>
                  <a:srgbClr val="00B894"/>
                </a:solidFill>
                <a:latin typeface="Microsoft YaHei"/>
              </a:rPr>
              <a:t>162,000/s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2000" b="1" ns16:eastAsia="Microsoft YaHei">
                <a:solidFill>
                  <a:srgbClr val="00B894"/>
                </a:solidFill>
                <a:latin typeface="Microsoft YaHei"/>
              </a:rPr>
              <a:t>202.5倍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2000" b="0" ns17:eastAsia="Microsoft YaHei">
                <a:solidFill>
                  <a:srgbClr val="FFFFFF"/>
                </a:solidFill>
                <a:latin typeface="Microsoft YaHei"/>
              </a:rPr>
              <a:t>存储效率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120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2000" b="0" ns18:eastAsia="Microsoft YaHei">
                <a:solidFill>
                  <a:srgbClr val="7A7A7A"/>
                </a:solidFill>
                <a:latin typeface="Microsoft YaHei"/>
              </a:rPr>
              <a:t>151GB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20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9="http://schemas.openxmlformats.org/wordprocessingml/2006/main" sz="2000" b="1" ns19:eastAsia="Microsoft YaHei">
                <a:solidFill>
                  <a:srgbClr val="00B894"/>
                </a:solidFill>
                <a:latin typeface="Microsoft YaHei"/>
              </a:rPr>
              <a:t>90GB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120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0="http://schemas.openxmlformats.org/wordprocessingml/2006/main" sz="2000" b="1" ns20:eastAsia="Microsoft YaHei">
                <a:solidFill>
                  <a:srgbClr val="00B894"/>
                </a:solidFill>
                <a:latin typeface="Microsoft YaHei"/>
              </a:rPr>
              <a:t>40%↓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000" b="1" ns1:eastAsia="Microsoft YaHei">
                <a:solidFill>
                  <a:srgbClr val="007AD9"/>
                </a:solidFill>
                <a:latin typeface="Microsoft YaHei"/>
              </a:rPr>
              <a:t>物联网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400" b="0" ns2:eastAsia="Microsoft YaHei">
                <a:solidFill>
                  <a:srgbClr val="FFFFFF"/>
                </a:solidFill>
                <a:latin typeface="Microsoft YaHei"/>
              </a:rPr>
              <a:t>设备管理、传感器数据</a:t>
            </a:r>
            <a:br/>
            <a:r>
              <a:t>实时监控预警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2000" b="1" ns3:eastAsia="Microsoft YaHei">
                <a:solidFill>
                  <a:srgbClr val="007AD9"/>
                </a:solidFill>
                <a:latin typeface="Microsoft YaHei"/>
              </a:rPr>
              <a:t>智慧城市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400" b="0" ns4:eastAsia="Microsoft YaHei">
                <a:solidFill>
                  <a:srgbClr val="FFFFFF"/>
                </a:solidFill>
                <a:latin typeface="Microsoft YaHei"/>
              </a:rPr>
              <a:t>交通、环境、安防</a:t>
            </a:r>
            <a:br/>
            <a:r>
              <a:t>数据融合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2000" b="1" ns5:eastAsia="Microsoft YaHei">
                <a:solidFill>
                  <a:srgbClr val="007AD9"/>
                </a:solidFill>
                <a:latin typeface="Microsoft YaHei"/>
              </a:rPr>
              <a:t>工业互联网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400" b="0" ns6:eastAsia="Microsoft YaHei">
                <a:solidFill>
                  <a:srgbClr val="FFFFFF"/>
                </a:solidFill>
                <a:latin typeface="Microsoft YaHei"/>
              </a:rPr>
              <a:t>设备监控</a:t>
            </a:r>
            <a:br/>
            <a:r>
              <a:t>预测性维护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2000" b="1" ns7:eastAsia="Microsoft YaHei">
                <a:solidFill>
                  <a:srgbClr val="007AD9"/>
                </a:solidFill>
                <a:latin typeface="Microsoft YaHei"/>
              </a:rPr>
              <a:t>AI平台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400" b="0" ns8:eastAsia="Microsoft YaHei">
                <a:solidFill>
                  <a:srgbClr val="FFFFFF"/>
                </a:solidFill>
                <a:latin typeface="Microsoft YaHei"/>
              </a:rPr>
              <a:t>多模态数据统一</a:t>
            </a:r>
            <a:br/>
            <a:r>
              <a:t>语义搜索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2000" b="1" ns9:eastAsia="Microsoft YaHei">
                <a:solidFill>
                  <a:srgbClr val="007AD9"/>
                </a:solidFill>
                <a:latin typeface="Microsoft YaHei"/>
              </a:rPr>
              <a:t>SaaS平台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400" b="0" ns10:eastAsia="Microsoft YaHei">
                <a:solidFill>
                  <a:srgbClr val="FFFFFF"/>
                </a:solidFill>
                <a:latin typeface="Microsoft YaHei"/>
              </a:rPr>
              <a:t>多租户隔离</a:t>
            </a:r>
            <a:br/>
            <a:r>
              <a:t>数据安全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00B894"/>
                </a:solidFill>
                <a:latin typeface="Microsoft YaHei"/>
              </a:rPr>
              <a:t>统一存储：一个系统替代7个系统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00B894"/>
                </a:solidFill>
                <a:latin typeface="Microsoft YaHei"/>
              </a:rPr>
              <a:t>高性能：推理延迟&lt;1ms，跨模态查询&lt;3ms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00B894"/>
                </a:solidFill>
                <a:latin typeface="Microsoft YaHei"/>
              </a:rPr>
              <a:t>低成本：运维成本降低87%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客户案例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2000" b="1" ns1:eastAsia="Microsoft YaHei">
                <a:solidFill>
                  <a:srgbClr val="007AD9"/>
                </a:solidFill>
                <a:latin typeface="Microsoft YaHei"/>
              </a:rPr>
              <a:t>智慧城市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ns2:eastAsia="Microsoft YaHei">
                <a:solidFill>
                  <a:srgbClr val="FFFFFF"/>
                </a:solidFill>
                <a:latin typeface="Microsoft YaHei"/>
              </a:rPr>
              <a:t>50万设备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600" b="0" ns3:eastAsia="Microsoft YaHei">
                <a:solidFill>
                  <a:srgbClr val="FFFFFF"/>
                </a:solidFill>
                <a:latin typeface="Microsoft YaHei"/>
              </a:rPr>
              <a:t>600ms→10ms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2400" b="1" ns4:eastAsia="Microsoft YaHei">
                <a:solidFill>
                  <a:srgbClr val="00B894"/>
                </a:solidFill>
                <a:latin typeface="Microsoft YaHei"/>
              </a:rPr>
              <a:t>60倍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2000" b="1" ns5:eastAsia="Microsoft YaHei">
                <a:solidFill>
                  <a:srgbClr val="007AD9"/>
                </a:solidFill>
                <a:latin typeface="Microsoft YaHei"/>
              </a:rPr>
              <a:t>工业互联网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600" b="0" ns6:eastAsia="Microsoft YaHei">
                <a:solidFill>
                  <a:srgbClr val="FFFFFF"/>
                </a:solidFill>
                <a:latin typeface="Microsoft YaHei"/>
              </a:rPr>
              <a:t>5000台设备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600" b="0" ns7:eastAsia="Microsoft YaHei">
                <a:solidFill>
                  <a:srgbClr val="FFFFFF"/>
                </a:solidFill>
                <a:latin typeface="Microsoft YaHei"/>
              </a:rPr>
              <a:t>6h→10ms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2400" b="1" ns8:eastAsia="Microsoft YaHei">
                <a:solidFill>
                  <a:srgbClr val="00B894"/>
                </a:solidFill>
                <a:latin typeface="Microsoft YaHei"/>
              </a:rPr>
              <a:t>2000倍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2000" b="1" ns9:eastAsia="Microsoft YaHei">
                <a:solidFill>
                  <a:srgbClr val="007AD9"/>
                </a:solidFill>
                <a:latin typeface="Microsoft YaHei"/>
              </a:rPr>
              <a:t>AI平台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600" b="0" ns10:eastAsia="Microsoft YaHei">
                <a:solidFill>
                  <a:srgbClr val="FFFFFF"/>
                </a:solidFill>
                <a:latin typeface="Microsoft YaHei"/>
              </a:rPr>
              <a:t>1亿条数据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600" b="0" ns11:eastAsia="Microsoft YaHei">
                <a:solidFill>
                  <a:srgbClr val="FFFFFF"/>
                </a:solidFill>
                <a:latin typeface="Microsoft YaHei"/>
              </a:rPr>
              <a:t>700ms→50ms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2400" b="1" ns12:eastAsia="Microsoft YaHei">
                <a:solidFill>
                  <a:srgbClr val="00B894"/>
                </a:solidFill>
                <a:latin typeface="Microsoft YaHei"/>
              </a:rPr>
              <a:t>14倍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2000" b="1" ns13:eastAsia="Microsoft YaHei">
                <a:solidFill>
                  <a:srgbClr val="007AD9"/>
                </a:solidFill>
                <a:latin typeface="Microsoft YaHei"/>
              </a:rPr>
              <a:t>SaaS平台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600" b="0" ns14:eastAsia="Microsoft YaHei">
                <a:solidFill>
                  <a:srgbClr val="FFFFFF"/>
                </a:solidFill>
                <a:latin typeface="Microsoft YaHei"/>
              </a:rPr>
              <a:t>500企业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600" b="0" ns15:eastAsia="Microsoft YaHei">
                <a:solidFill>
                  <a:srgbClr val="FFFFFF"/>
                </a:solidFill>
                <a:latin typeface="Microsoft YaHei"/>
              </a:rPr>
              <a:t>50ms→5ms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2400" b="1" ns16:eastAsia="Microsoft YaHei">
                <a:solidFill>
                  <a:srgbClr val="00B894"/>
                </a:solidFill>
                <a:latin typeface="Microsoft YaHei"/>
              </a:rPr>
              <a:t>10倍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专利保护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4000" b="1" ns1:eastAsia="Microsoft YaHei">
                <a:solidFill>
                  <a:srgbClr val="007AD9"/>
                </a:solidFill>
                <a:latin typeface="Microsoft YaHei"/>
              </a:rPr>
              <a:t>12项发明专利申请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2000" b="1" ns2:eastAsia="Microsoft YaHei">
                <a:solidFill>
                  <a:srgbClr val="FFFFFF"/>
                </a:solidFill>
                <a:latin typeface="Microsoft YaHei"/>
              </a:rPr>
              <a:t>核心架构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2800" b="1" ns3:eastAsia="Microsoft YaHei">
                <a:solidFill>
                  <a:srgbClr val="00B894"/>
                </a:solidFill>
                <a:latin typeface="Microsoft YaHei"/>
              </a:rPr>
              <a:t>1项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2000" b="1" ns4:eastAsia="Microsoft YaHei">
                <a:solidFill>
                  <a:srgbClr val="FFFFFF"/>
                </a:solidFill>
                <a:latin typeface="Microsoft YaHei"/>
              </a:rPr>
              <a:t>关键算法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2800" b="1" ns5:eastAsia="Microsoft YaHei">
                <a:solidFill>
                  <a:srgbClr val="00B894"/>
                </a:solidFill>
                <a:latin typeface="Microsoft YaHei"/>
              </a:rPr>
              <a:t>5项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2000" b="1" ns6:eastAsia="Microsoft YaHei">
                <a:solidFill>
                  <a:srgbClr val="FFFFFF"/>
                </a:solidFill>
                <a:latin typeface="Microsoft YaHei"/>
              </a:rPr>
              <a:t>应用场景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2800" b="1" ns7:eastAsia="Microsoft YaHei">
                <a:solidFill>
                  <a:srgbClr val="00B894"/>
                </a:solidFill>
                <a:latin typeface="Microsoft YaHei"/>
              </a:rPr>
              <a:t>3项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2000" b="1" ns8:eastAsia="Microsoft YaHei">
                <a:solidFill>
                  <a:srgbClr val="FFFFFF"/>
                </a:solidFill>
                <a:latin typeface="Microsoft YaHei"/>
              </a:rPr>
              <a:t>存储优化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2800" b="1" ns9:eastAsia="Microsoft YaHei">
                <a:solidFill>
                  <a:srgbClr val="00B894"/>
                </a:solidFill>
                <a:latin typeface="Microsoft YaHei"/>
              </a:rPr>
              <a:t>3项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本体内核化：规避代价150倍性能下降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零映射表：规避代价100倍性能下降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统一标识：无法规避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Microsoft YaHei"/>
              </a:rPr>
              <a:t>写入联动：规避代价10倍性能下降+数据不一致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2400" b="1" ns10:eastAsia="Microsoft YaHei">
                <a:solidFill>
                  <a:srgbClr val="00B894"/>
                </a:solidFill>
                <a:latin typeface="Microsoft YaHei"/>
              </a:rPr>
              <a:t>大厂无法完全规避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竞争优势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000" b="1" ns1:eastAsia="Microsoft YaHei">
                <a:solidFill>
                  <a:srgbClr val="007AD9"/>
                </a:solidFill>
                <a:latin typeface="Microsoft YaHei"/>
              </a:rPr>
              <a:t>vs 传统多系统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600" b="0" ns2:eastAsia="Microsoft YaHei">
                <a:solidFill>
                  <a:srgbClr val="FFFFFF"/>
                </a:solidFill>
                <a:latin typeface="Microsoft YaHei"/>
              </a:rPr>
              <a:t>系统简化87%</a:t>
            </a:r>
            <a:br/>
            <a:r>
              <a:t>推理性能150倍</a:t>
            </a:r>
            <a:br/>
            <a:r>
              <a:t>运维成本降低87%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2000" b="1" ns3:eastAsia="Microsoft YaHei">
                <a:solidFill>
                  <a:srgbClr val="007AD9"/>
                </a:solidFill>
                <a:latin typeface="Microsoft YaHei"/>
              </a:rPr>
              <a:t>vs 单一模态数据库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600" b="0" ns4:eastAsia="Microsoft YaHei">
                <a:solidFill>
                  <a:srgbClr val="FFFFFF"/>
                </a:solidFill>
                <a:latin typeface="Microsoft YaHei"/>
              </a:rPr>
              <a:t>功能完整</a:t>
            </a:r>
            <a:br/>
            <a:r>
              <a:t>6种数据模态</a:t>
            </a:r>
            <a:br/>
            <a:r>
              <a:t>跨模态查询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2000" b="1" ns5:eastAsia="Microsoft YaHei">
                <a:solidFill>
                  <a:srgbClr val="007AD9"/>
                </a:solidFill>
                <a:latin typeface="Microsoft YaHei"/>
              </a:rPr>
              <a:t>vs 外挂式推理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116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600" b="0" ns6:eastAsia="Microsoft YaHei">
                <a:solidFill>
                  <a:srgbClr val="FFFFFF"/>
                </a:solidFill>
                <a:latin typeface="Microsoft YaHei"/>
              </a:rPr>
              <a:t>推理延迟&lt;1ms</a:t>
            </a:r>
            <a:br/>
            <a:r>
              <a:t>数据强一致</a:t>
            </a:r>
            <a:br/>
            <a:r>
              <a:t>系统复杂度降低50%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400" b="1" ns1:eastAsia="Microsoft YaHei">
                <a:solidFill>
                  <a:srgbClr val="007AD9"/>
                </a:solidFill>
                <a:latin typeface="Microsoft YaHei"/>
              </a:rPr>
              <a:t>2026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800" b="0" ns2:eastAsia="Microsoft YaHei">
                <a:solidFill>
                  <a:srgbClr val="FFFFFF"/>
                </a:solidFill>
                <a:latin typeface="Microsoft YaHei"/>
              </a:rPr>
              <a:t>v1.0发布</a:t>
            </a:r>
            <a:br/>
            <a:r>
              <a:t>开源版本</a:t>
            </a:r>
            <a:br/>
            <a:r>
              <a:t>首批客户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2400" b="1" ns3:eastAsia="Microsoft YaHei">
                <a:solidFill>
                  <a:srgbClr val="007AD9"/>
                </a:solidFill>
                <a:latin typeface="Microsoft YaHei"/>
              </a:rPr>
              <a:t>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800" b="0" ns4:eastAsia="Microsoft YaHei">
                <a:solidFill>
                  <a:srgbClr val="FFFFFF"/>
                </a:solidFill>
                <a:latin typeface="Microsoft YaHei"/>
              </a:rPr>
              <a:t>v2.0发布</a:t>
            </a:r>
            <a:br/>
            <a:r>
              <a:t>云服务版本</a:t>
            </a:r>
            <a:br/>
            <a:r>
              <a:t>国际市场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2400" b="1" ns5:eastAsia="Microsoft YaHei">
                <a:solidFill>
                  <a:srgbClr val="007AD9"/>
                </a:solidFill>
                <a:latin typeface="Microsoft YaHei"/>
              </a:rPr>
              <a:t>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800" b="0" ns6:eastAsia="Microsoft YaHei">
                <a:solidFill>
                  <a:srgbClr val="FFFFFF"/>
                </a:solidFill>
                <a:latin typeface="Microsoft YaHei"/>
              </a:rPr>
              <a:t>生态建设</a:t>
            </a:r>
            <a:br/>
            <a:r>
              <a:t>行业深耕</a:t>
            </a:r>
            <a:br/>
            <a:r>
              <a:t>技术领先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3600" b="1" ns0:eastAsia="Microsoft YaHei">
                <a:solidFill>
                  <a:srgbClr val="FFFFFF"/>
                </a:solidFill>
                <a:latin typeface="Microsoft YaHei"/>
              </a:rPr>
              <a:t>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000" b="1" ns1:eastAsia="Microsoft YaHei">
                <a:solidFill>
                  <a:srgbClr val="007AD9"/>
                </a:solidFill>
                <a:latin typeface="Microsoft YaHei"/>
              </a:rPr>
              <a:t>产品销售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400" b="0" ns2:eastAsia="Microsoft YaHei">
                <a:solidFill>
                  <a:srgbClr val="FFFFFF"/>
                </a:solidFill>
                <a:latin typeface="Microsoft YaHei"/>
              </a:rPr>
              <a:t>软件许可费</a:t>
            </a:r>
            <a:br/>
            <a:r>
              <a:t>按节点/按数据量计费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2000" b="1" ns3:eastAsia="Microsoft YaHei">
                <a:solidFill>
                  <a:srgbClr val="007AD9"/>
                </a:solidFill>
                <a:latin typeface="Microsoft YaHei"/>
              </a:rPr>
              <a:t>云服务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400" b="0" ns4:eastAsia="Microsoft YaHei">
                <a:solidFill>
                  <a:srgbClr val="FFFFFF"/>
                </a:solidFill>
                <a:latin typeface="Microsoft YaHei"/>
              </a:rPr>
              <a:t>SaaS订阅费</a:t>
            </a:r>
            <a:br/>
            <a:r>
              <a:t>按使用量计费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2000" b="1" ns5:eastAsia="Microsoft YaHei">
                <a:solidFill>
                  <a:srgbClr val="007AD9"/>
                </a:solidFill>
                <a:latin typeface="Microsoft YaHei"/>
              </a:rPr>
              <a:t>技术授权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400" b="0" ns6:eastAsia="Microsoft YaHei">
                <a:solidFill>
                  <a:srgbClr val="FFFFFF"/>
                </a:solidFill>
                <a:latin typeface="Microsoft YaHei"/>
              </a:rPr>
              <a:t>向其他厂商授权</a:t>
            </a:r>
            <a:br/>
            <a:r>
              <a:t>交叉授权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2000" b="1" ns7:eastAsia="Microsoft YaHei">
                <a:solidFill>
                  <a:srgbClr val="007AD9"/>
                </a:solidFill>
                <a:latin typeface="Microsoft YaHei"/>
              </a:rPr>
              <a:t>专业服务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400" b="0" ns8:eastAsia="Microsoft YaHei">
                <a:solidFill>
                  <a:srgbClr val="FFFFFF"/>
                </a:solidFill>
                <a:latin typeface="Microsoft YaHei"/>
              </a:rPr>
              <a:t>技术咨询</a:t>
            </a:r>
            <a:br/>
            <a:r>
              <a:t>定制开发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0="http://schemas.openxmlformats.org/wordprocessingml/2006/main" sz="6000" b="1" ns0:eastAsia="Microsoft YaHei">
                <a:solidFill>
                  <a:srgbClr val="007AD9"/>
                </a:solidFill>
                <a:latin typeface="Microsoft YaHei"/>
              </a:rPr>
              <a:t>OntoDB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800" b="0" ns1:eastAsia="Microsoft YaHei">
                <a:solidFill>
                  <a:srgbClr val="00B894"/>
                </a:solidFill>
                <a:latin typeface="Microsoft YaHei"/>
              </a:rPr>
              <a:t>一个数据库替代七个系统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官网：ontovalue.com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邮箱：contact@ontovalue.com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GitHub：github.com/ontodb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486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1600" b="0" ns2:eastAsia="Microsoft YaHei">
                <a:solidFill>
                  <a:srgbClr val="7A7A7A"/>
                </a:solidFill>
                <a:latin typeface="Microsoft YaHei"/>
              </a:rPr>
              <a:t>欢迎联系我们：技术交流 | 商务合作 | 投资咨询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